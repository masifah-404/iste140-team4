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Lst>
  <p:sldSz cx="18288000" cy="10287000"/>
  <p:notesSz cx="6858000" cy="9144000"/>
  <p:embeddedFontLst>
    <p:embeddedFont>
      <p:font typeface="Antic" panose="020B0604020202020204" charset="0"/>
      <p:regular r:id="rId5"/>
    </p:embeddedFont>
    <p:embeddedFont>
      <p:font typeface="Antic Bold" panose="020B0604020202020204" charset="0"/>
      <p:regular r:id="rId6"/>
    </p:embeddedFont>
    <p:embeddedFont>
      <p:font typeface="Canva Sans" panose="020B0604020202020204" charset="0"/>
      <p:regular r:id="rId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4" d="100"/>
          <a:sy n="54" d="100"/>
        </p:scale>
        <p:origin x="754" y="2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font" Target="fonts/font3.fntdata"/><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tableStyles" Target="tableStyles.xml"/><Relationship Id="rId5" Type="http://schemas.openxmlformats.org/officeDocument/2006/relationships/font" Target="fonts/font1.fntdata"/><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2.sv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4.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sv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8E7"/>
        </a:solidFill>
        <a:effectLst/>
      </p:bgPr>
    </p:bg>
    <p:spTree>
      <p:nvGrpSpPr>
        <p:cNvPr id="1" name=""/>
        <p:cNvGrpSpPr/>
        <p:nvPr/>
      </p:nvGrpSpPr>
      <p:grpSpPr>
        <a:xfrm>
          <a:off x="0" y="0"/>
          <a:ext cx="0" cy="0"/>
          <a:chOff x="0" y="0"/>
          <a:chExt cx="0" cy="0"/>
        </a:xfrm>
      </p:grpSpPr>
      <p:sp>
        <p:nvSpPr>
          <p:cNvPr id="2" name="Freeform 2"/>
          <p:cNvSpPr/>
          <p:nvPr/>
        </p:nvSpPr>
        <p:spPr>
          <a:xfrm>
            <a:off x="4814621" y="488345"/>
            <a:ext cx="940438" cy="800227"/>
          </a:xfrm>
          <a:custGeom>
            <a:avLst/>
            <a:gdLst/>
            <a:ahLst/>
            <a:cxnLst/>
            <a:rect l="l" t="t" r="r" b="b"/>
            <a:pathLst>
              <a:path w="940438" h="800227">
                <a:moveTo>
                  <a:pt x="0" y="0"/>
                </a:moveTo>
                <a:lnTo>
                  <a:pt x="940438" y="0"/>
                </a:lnTo>
                <a:lnTo>
                  <a:pt x="940438" y="800227"/>
                </a:lnTo>
                <a:lnTo>
                  <a:pt x="0" y="8002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3580156" y="447973"/>
            <a:ext cx="966370" cy="272341"/>
          </a:xfrm>
          <a:custGeom>
            <a:avLst/>
            <a:gdLst/>
            <a:ahLst/>
            <a:cxnLst/>
            <a:rect l="l" t="t" r="r" b="b"/>
            <a:pathLst>
              <a:path w="966370" h="272341">
                <a:moveTo>
                  <a:pt x="0" y="0"/>
                </a:moveTo>
                <a:lnTo>
                  <a:pt x="966369" y="0"/>
                </a:lnTo>
                <a:lnTo>
                  <a:pt x="966369" y="272340"/>
                </a:lnTo>
                <a:lnTo>
                  <a:pt x="0" y="27234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1866657" y="328597"/>
            <a:ext cx="940438" cy="800227"/>
          </a:xfrm>
          <a:custGeom>
            <a:avLst/>
            <a:gdLst/>
            <a:ahLst/>
            <a:cxnLst/>
            <a:rect l="l" t="t" r="r" b="b"/>
            <a:pathLst>
              <a:path w="940438" h="800227">
                <a:moveTo>
                  <a:pt x="0" y="0"/>
                </a:moveTo>
                <a:lnTo>
                  <a:pt x="940438" y="0"/>
                </a:lnTo>
                <a:lnTo>
                  <a:pt x="940438" y="800227"/>
                </a:lnTo>
                <a:lnTo>
                  <a:pt x="0" y="8002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3370013" y="856483"/>
            <a:ext cx="966370" cy="272341"/>
          </a:xfrm>
          <a:custGeom>
            <a:avLst/>
            <a:gdLst/>
            <a:ahLst/>
            <a:cxnLst/>
            <a:rect l="l" t="t" r="r" b="b"/>
            <a:pathLst>
              <a:path w="966370" h="272341">
                <a:moveTo>
                  <a:pt x="0" y="0"/>
                </a:moveTo>
                <a:lnTo>
                  <a:pt x="966370" y="0"/>
                </a:lnTo>
                <a:lnTo>
                  <a:pt x="966370" y="272341"/>
                </a:lnTo>
                <a:lnTo>
                  <a:pt x="0" y="27234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16511958" y="584143"/>
            <a:ext cx="966370" cy="272341"/>
          </a:xfrm>
          <a:custGeom>
            <a:avLst/>
            <a:gdLst/>
            <a:ahLst/>
            <a:cxnLst/>
            <a:rect l="l" t="t" r="r" b="b"/>
            <a:pathLst>
              <a:path w="966370" h="272341">
                <a:moveTo>
                  <a:pt x="0" y="0"/>
                </a:moveTo>
                <a:lnTo>
                  <a:pt x="966370" y="0"/>
                </a:lnTo>
                <a:lnTo>
                  <a:pt x="966370" y="272340"/>
                </a:lnTo>
                <a:lnTo>
                  <a:pt x="0" y="27234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15337274" y="1424743"/>
            <a:ext cx="966370" cy="272341"/>
          </a:xfrm>
          <a:custGeom>
            <a:avLst/>
            <a:gdLst/>
            <a:ahLst/>
            <a:cxnLst/>
            <a:rect l="l" t="t" r="r" b="b"/>
            <a:pathLst>
              <a:path w="966370" h="272341">
                <a:moveTo>
                  <a:pt x="0" y="0"/>
                </a:moveTo>
                <a:lnTo>
                  <a:pt x="966370" y="0"/>
                </a:lnTo>
                <a:lnTo>
                  <a:pt x="966370" y="272340"/>
                </a:lnTo>
                <a:lnTo>
                  <a:pt x="0" y="27234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10211378" y="5822868"/>
            <a:ext cx="10114513" cy="5630412"/>
          </a:xfrm>
          <a:custGeom>
            <a:avLst/>
            <a:gdLst/>
            <a:ahLst/>
            <a:cxnLst/>
            <a:rect l="l" t="t" r="r" b="b"/>
            <a:pathLst>
              <a:path w="10114513" h="5630412">
                <a:moveTo>
                  <a:pt x="0" y="0"/>
                </a:moveTo>
                <a:lnTo>
                  <a:pt x="10114513" y="0"/>
                </a:lnTo>
                <a:lnTo>
                  <a:pt x="10114513" y="5630413"/>
                </a:lnTo>
                <a:lnTo>
                  <a:pt x="0" y="5630413"/>
                </a:lnTo>
                <a:lnTo>
                  <a:pt x="0" y="0"/>
                </a:lnTo>
                <a:close/>
              </a:path>
            </a:pathLst>
          </a:custGeom>
          <a:blipFill>
            <a:blip r:embed="rId6"/>
            <a:stretch>
              <a:fillRect/>
            </a:stretch>
          </a:blipFill>
        </p:spPr>
      </p:sp>
      <p:sp>
        <p:nvSpPr>
          <p:cNvPr id="9" name="Freeform 9"/>
          <p:cNvSpPr/>
          <p:nvPr/>
        </p:nvSpPr>
        <p:spPr>
          <a:xfrm>
            <a:off x="-564634" y="5379399"/>
            <a:ext cx="3186669" cy="4907601"/>
          </a:xfrm>
          <a:custGeom>
            <a:avLst/>
            <a:gdLst/>
            <a:ahLst/>
            <a:cxnLst/>
            <a:rect l="l" t="t" r="r" b="b"/>
            <a:pathLst>
              <a:path w="3186669" h="4907601">
                <a:moveTo>
                  <a:pt x="0" y="0"/>
                </a:moveTo>
                <a:lnTo>
                  <a:pt x="3186668" y="0"/>
                </a:lnTo>
                <a:lnTo>
                  <a:pt x="3186668" y="4907601"/>
                </a:lnTo>
                <a:lnTo>
                  <a:pt x="0" y="4907601"/>
                </a:lnTo>
                <a:lnTo>
                  <a:pt x="0" y="0"/>
                </a:lnTo>
                <a:close/>
              </a:path>
            </a:pathLst>
          </a:custGeom>
          <a:blipFill>
            <a:blip r:embed="rId7"/>
            <a:stretch>
              <a:fillRect/>
            </a:stretch>
          </a:blipFill>
        </p:spPr>
      </p:sp>
      <p:sp>
        <p:nvSpPr>
          <p:cNvPr id="10" name="TextBox 10"/>
          <p:cNvSpPr txBox="1"/>
          <p:nvPr/>
        </p:nvSpPr>
        <p:spPr>
          <a:xfrm>
            <a:off x="1776382" y="2575453"/>
            <a:ext cx="14735235" cy="1576069"/>
          </a:xfrm>
          <a:prstGeom prst="rect">
            <a:avLst/>
          </a:prstGeom>
        </p:spPr>
        <p:txBody>
          <a:bodyPr wrap="square" lIns="0" tIns="0" rIns="0" bIns="0" rtlCol="0" anchor="t">
            <a:spAutoFit/>
          </a:bodyPr>
          <a:lstStyle/>
          <a:p>
            <a:pPr algn="ctr">
              <a:lnSpc>
                <a:spcPts val="12880"/>
              </a:lnSpc>
            </a:pPr>
            <a:r>
              <a:rPr lang="en-US" sz="9200" dirty="0">
                <a:solidFill>
                  <a:srgbClr val="EC2127"/>
                </a:solidFill>
                <a:latin typeface="Antic Bold"/>
                <a:ea typeface="Antic Bold"/>
                <a:cs typeface="Antic Bold"/>
                <a:sym typeface="Antic Bold"/>
              </a:rPr>
              <a:t>ISTE 240 Project Briefing</a:t>
            </a:r>
          </a:p>
        </p:txBody>
      </p:sp>
      <p:sp>
        <p:nvSpPr>
          <p:cNvPr id="11" name="Freeform 11"/>
          <p:cNvSpPr/>
          <p:nvPr/>
        </p:nvSpPr>
        <p:spPr>
          <a:xfrm>
            <a:off x="337542" y="352175"/>
            <a:ext cx="966370" cy="272341"/>
          </a:xfrm>
          <a:custGeom>
            <a:avLst/>
            <a:gdLst/>
            <a:ahLst/>
            <a:cxnLst/>
            <a:rect l="l" t="t" r="r" b="b"/>
            <a:pathLst>
              <a:path w="966370" h="272341">
                <a:moveTo>
                  <a:pt x="0" y="0"/>
                </a:moveTo>
                <a:lnTo>
                  <a:pt x="966369" y="0"/>
                </a:lnTo>
                <a:lnTo>
                  <a:pt x="966369" y="272340"/>
                </a:lnTo>
                <a:lnTo>
                  <a:pt x="0" y="27234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Freeform 12"/>
          <p:cNvSpPr/>
          <p:nvPr/>
        </p:nvSpPr>
        <p:spPr>
          <a:xfrm>
            <a:off x="1918878" y="992654"/>
            <a:ext cx="966370" cy="272341"/>
          </a:xfrm>
          <a:custGeom>
            <a:avLst/>
            <a:gdLst/>
            <a:ahLst/>
            <a:cxnLst/>
            <a:rect l="l" t="t" r="r" b="b"/>
            <a:pathLst>
              <a:path w="966370" h="272341">
                <a:moveTo>
                  <a:pt x="0" y="0"/>
                </a:moveTo>
                <a:lnTo>
                  <a:pt x="966369" y="0"/>
                </a:lnTo>
                <a:lnTo>
                  <a:pt x="966369" y="272340"/>
                </a:lnTo>
                <a:lnTo>
                  <a:pt x="0" y="27234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3" name="Freeform 13"/>
          <p:cNvSpPr/>
          <p:nvPr/>
        </p:nvSpPr>
        <p:spPr>
          <a:xfrm>
            <a:off x="7195062" y="584143"/>
            <a:ext cx="966370" cy="272341"/>
          </a:xfrm>
          <a:custGeom>
            <a:avLst/>
            <a:gdLst/>
            <a:ahLst/>
            <a:cxnLst/>
            <a:rect l="l" t="t" r="r" b="b"/>
            <a:pathLst>
              <a:path w="966370" h="272341">
                <a:moveTo>
                  <a:pt x="0" y="0"/>
                </a:moveTo>
                <a:lnTo>
                  <a:pt x="966370" y="0"/>
                </a:lnTo>
                <a:lnTo>
                  <a:pt x="966370" y="272340"/>
                </a:lnTo>
                <a:lnTo>
                  <a:pt x="0" y="27234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4" name="Freeform 14"/>
          <p:cNvSpPr/>
          <p:nvPr/>
        </p:nvSpPr>
        <p:spPr>
          <a:xfrm>
            <a:off x="10046057" y="352175"/>
            <a:ext cx="966370" cy="272341"/>
          </a:xfrm>
          <a:custGeom>
            <a:avLst/>
            <a:gdLst/>
            <a:ahLst/>
            <a:cxnLst/>
            <a:rect l="l" t="t" r="r" b="b"/>
            <a:pathLst>
              <a:path w="966370" h="272341">
                <a:moveTo>
                  <a:pt x="0" y="0"/>
                </a:moveTo>
                <a:lnTo>
                  <a:pt x="966370" y="0"/>
                </a:lnTo>
                <a:lnTo>
                  <a:pt x="966370" y="272340"/>
                </a:lnTo>
                <a:lnTo>
                  <a:pt x="0" y="27234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Freeform 15"/>
          <p:cNvSpPr/>
          <p:nvPr/>
        </p:nvSpPr>
        <p:spPr>
          <a:xfrm>
            <a:off x="9079688" y="1152402"/>
            <a:ext cx="966370" cy="272341"/>
          </a:xfrm>
          <a:custGeom>
            <a:avLst/>
            <a:gdLst/>
            <a:ahLst/>
            <a:cxnLst/>
            <a:rect l="l" t="t" r="r" b="b"/>
            <a:pathLst>
              <a:path w="966370" h="272341">
                <a:moveTo>
                  <a:pt x="0" y="0"/>
                </a:moveTo>
                <a:lnTo>
                  <a:pt x="966369" y="0"/>
                </a:lnTo>
                <a:lnTo>
                  <a:pt x="966369" y="272341"/>
                </a:lnTo>
                <a:lnTo>
                  <a:pt x="0" y="27234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6" name="TextBox 16"/>
          <p:cNvSpPr txBox="1"/>
          <p:nvPr/>
        </p:nvSpPr>
        <p:spPr>
          <a:xfrm>
            <a:off x="4369682" y="4552866"/>
            <a:ext cx="9548634" cy="2635250"/>
          </a:xfrm>
          <a:prstGeom prst="rect">
            <a:avLst/>
          </a:prstGeom>
        </p:spPr>
        <p:txBody>
          <a:bodyPr wrap="square" lIns="0" tIns="0" rIns="0" bIns="0" rtlCol="0" anchor="t">
            <a:spAutoFit/>
          </a:bodyPr>
          <a:lstStyle/>
          <a:p>
            <a:pPr algn="ctr">
              <a:lnSpc>
                <a:spcPts val="7000"/>
              </a:lnSpc>
            </a:pPr>
            <a:r>
              <a:rPr lang="en-US" sz="5000" dirty="0">
                <a:solidFill>
                  <a:srgbClr val="000000"/>
                </a:solidFill>
                <a:latin typeface="Canva Sans"/>
                <a:ea typeface="Canva Sans"/>
                <a:cs typeface="Canva Sans"/>
                <a:sym typeface="Canva Sans"/>
              </a:rPr>
              <a:t>Safia </a:t>
            </a:r>
            <a:r>
              <a:rPr lang="en-US" sz="5000" dirty="0" err="1">
                <a:solidFill>
                  <a:srgbClr val="000000"/>
                </a:solidFill>
                <a:latin typeface="Canva Sans"/>
                <a:ea typeface="Canva Sans"/>
                <a:cs typeface="Canva Sans"/>
                <a:sym typeface="Canva Sans"/>
              </a:rPr>
              <a:t>Siddque</a:t>
            </a:r>
            <a:r>
              <a:rPr lang="en-US" sz="5000" dirty="0">
                <a:solidFill>
                  <a:srgbClr val="000000"/>
                </a:solidFill>
                <a:latin typeface="Canva Sans"/>
                <a:ea typeface="Canva Sans"/>
                <a:cs typeface="Canva Sans"/>
                <a:sym typeface="Canva Sans"/>
              </a:rPr>
              <a:t> 761008460</a:t>
            </a:r>
          </a:p>
          <a:p>
            <a:pPr algn="ctr">
              <a:lnSpc>
                <a:spcPts val="7000"/>
              </a:lnSpc>
            </a:pPr>
            <a:r>
              <a:rPr lang="en-US" sz="5000" dirty="0" err="1">
                <a:solidFill>
                  <a:srgbClr val="000000"/>
                </a:solidFill>
                <a:latin typeface="Canva Sans"/>
                <a:ea typeface="Canva Sans"/>
                <a:cs typeface="Canva Sans"/>
                <a:sym typeface="Canva Sans"/>
              </a:rPr>
              <a:t>Masifah</a:t>
            </a:r>
            <a:r>
              <a:rPr lang="en-US" sz="5000" dirty="0">
                <a:solidFill>
                  <a:srgbClr val="000000"/>
                </a:solidFill>
                <a:latin typeface="Canva Sans"/>
                <a:ea typeface="Canva Sans"/>
                <a:cs typeface="Canva Sans"/>
                <a:sym typeface="Canva Sans"/>
              </a:rPr>
              <a:t> Mazhar 418003492</a:t>
            </a:r>
          </a:p>
          <a:p>
            <a:pPr algn="ctr">
              <a:lnSpc>
                <a:spcPts val="7000"/>
              </a:lnSpc>
            </a:pPr>
            <a:r>
              <a:rPr lang="en-US" sz="5000" dirty="0">
                <a:solidFill>
                  <a:srgbClr val="000000"/>
                </a:solidFill>
                <a:latin typeface="Canva Sans"/>
                <a:ea typeface="Canva Sans"/>
                <a:cs typeface="Canva Sans"/>
                <a:sym typeface="Canva Sans"/>
              </a:rPr>
              <a:t>Arina </a:t>
            </a:r>
            <a:r>
              <a:rPr lang="en-US" sz="5000" dirty="0" err="1">
                <a:solidFill>
                  <a:srgbClr val="000000"/>
                </a:solidFill>
                <a:latin typeface="Canva Sans"/>
                <a:ea typeface="Canva Sans"/>
                <a:cs typeface="Canva Sans"/>
                <a:sym typeface="Canva Sans"/>
              </a:rPr>
              <a:t>Baiazitova</a:t>
            </a:r>
            <a:r>
              <a:rPr lang="en-US" sz="5000" dirty="0">
                <a:solidFill>
                  <a:srgbClr val="000000"/>
                </a:solidFill>
                <a:latin typeface="Canva Sans"/>
                <a:ea typeface="Canva Sans"/>
                <a:cs typeface="Canva Sans"/>
                <a:sym typeface="Canva Sans"/>
              </a:rPr>
              <a:t> 761008753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8E7"/>
        </a:solidFill>
        <a:effectLst/>
      </p:bgPr>
    </p:bg>
    <p:spTree>
      <p:nvGrpSpPr>
        <p:cNvPr id="1" name=""/>
        <p:cNvGrpSpPr/>
        <p:nvPr/>
      </p:nvGrpSpPr>
      <p:grpSpPr>
        <a:xfrm>
          <a:off x="0" y="0"/>
          <a:ext cx="0" cy="0"/>
          <a:chOff x="0" y="0"/>
          <a:chExt cx="0" cy="0"/>
        </a:xfrm>
      </p:grpSpPr>
      <p:sp>
        <p:nvSpPr>
          <p:cNvPr id="2" name="Freeform 2"/>
          <p:cNvSpPr/>
          <p:nvPr/>
        </p:nvSpPr>
        <p:spPr>
          <a:xfrm>
            <a:off x="6024637" y="756359"/>
            <a:ext cx="966370" cy="272341"/>
          </a:xfrm>
          <a:custGeom>
            <a:avLst/>
            <a:gdLst/>
            <a:ahLst/>
            <a:cxnLst/>
            <a:rect l="l" t="t" r="r" b="b"/>
            <a:pathLst>
              <a:path w="966370" h="272341">
                <a:moveTo>
                  <a:pt x="0" y="0"/>
                </a:moveTo>
                <a:lnTo>
                  <a:pt x="966369" y="0"/>
                </a:lnTo>
                <a:lnTo>
                  <a:pt x="966369" y="272341"/>
                </a:lnTo>
                <a:lnTo>
                  <a:pt x="0" y="27234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337542" y="352175"/>
            <a:ext cx="966370" cy="272341"/>
          </a:xfrm>
          <a:custGeom>
            <a:avLst/>
            <a:gdLst/>
            <a:ahLst/>
            <a:cxnLst/>
            <a:rect l="l" t="t" r="r" b="b"/>
            <a:pathLst>
              <a:path w="966370" h="272341">
                <a:moveTo>
                  <a:pt x="0" y="0"/>
                </a:moveTo>
                <a:lnTo>
                  <a:pt x="966369" y="0"/>
                </a:lnTo>
                <a:lnTo>
                  <a:pt x="966369" y="272340"/>
                </a:lnTo>
                <a:lnTo>
                  <a:pt x="0" y="27234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1724810" y="1028700"/>
            <a:ext cx="966370" cy="272341"/>
          </a:xfrm>
          <a:custGeom>
            <a:avLst/>
            <a:gdLst/>
            <a:ahLst/>
            <a:cxnLst/>
            <a:rect l="l" t="t" r="r" b="b"/>
            <a:pathLst>
              <a:path w="966370" h="272341">
                <a:moveTo>
                  <a:pt x="0" y="0"/>
                </a:moveTo>
                <a:lnTo>
                  <a:pt x="966370" y="0"/>
                </a:lnTo>
                <a:lnTo>
                  <a:pt x="966370" y="272341"/>
                </a:lnTo>
                <a:lnTo>
                  <a:pt x="0" y="27234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6292930" y="492416"/>
            <a:ext cx="966370" cy="272341"/>
          </a:xfrm>
          <a:custGeom>
            <a:avLst/>
            <a:gdLst/>
            <a:ahLst/>
            <a:cxnLst/>
            <a:rect l="l" t="t" r="r" b="b"/>
            <a:pathLst>
              <a:path w="966370" h="272341">
                <a:moveTo>
                  <a:pt x="0" y="0"/>
                </a:moveTo>
                <a:lnTo>
                  <a:pt x="966370" y="0"/>
                </a:lnTo>
                <a:lnTo>
                  <a:pt x="966370" y="272341"/>
                </a:lnTo>
                <a:lnTo>
                  <a:pt x="0" y="27234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3491092" y="488345"/>
            <a:ext cx="940438" cy="800227"/>
          </a:xfrm>
          <a:custGeom>
            <a:avLst/>
            <a:gdLst/>
            <a:ahLst/>
            <a:cxnLst/>
            <a:rect l="l" t="t" r="r" b="b"/>
            <a:pathLst>
              <a:path w="940438" h="800227">
                <a:moveTo>
                  <a:pt x="0" y="0"/>
                </a:moveTo>
                <a:lnTo>
                  <a:pt x="940438" y="0"/>
                </a:lnTo>
                <a:lnTo>
                  <a:pt x="940438" y="800227"/>
                </a:lnTo>
                <a:lnTo>
                  <a:pt x="0" y="80022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14234493" y="228473"/>
            <a:ext cx="940438" cy="800227"/>
          </a:xfrm>
          <a:custGeom>
            <a:avLst/>
            <a:gdLst/>
            <a:ahLst/>
            <a:cxnLst/>
            <a:rect l="l" t="t" r="r" b="b"/>
            <a:pathLst>
              <a:path w="940438" h="800227">
                <a:moveTo>
                  <a:pt x="0" y="0"/>
                </a:moveTo>
                <a:lnTo>
                  <a:pt x="940438" y="0"/>
                </a:lnTo>
                <a:lnTo>
                  <a:pt x="940438" y="800227"/>
                </a:lnTo>
                <a:lnTo>
                  <a:pt x="0" y="80022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7539466" y="-152862"/>
            <a:ext cx="3636885" cy="1818442"/>
          </a:xfrm>
          <a:custGeom>
            <a:avLst/>
            <a:gdLst/>
            <a:ahLst/>
            <a:cxnLst/>
            <a:rect l="l" t="t" r="r" b="b"/>
            <a:pathLst>
              <a:path w="3636885" h="1818442">
                <a:moveTo>
                  <a:pt x="0" y="0"/>
                </a:moveTo>
                <a:lnTo>
                  <a:pt x="3636885" y="0"/>
                </a:lnTo>
                <a:lnTo>
                  <a:pt x="3636885" y="1818443"/>
                </a:lnTo>
                <a:lnTo>
                  <a:pt x="0" y="1818443"/>
                </a:lnTo>
                <a:lnTo>
                  <a:pt x="0" y="0"/>
                </a:lnTo>
                <a:close/>
              </a:path>
            </a:pathLst>
          </a:custGeom>
          <a:blipFill>
            <a:blip r:embed="rId6"/>
            <a:stretch>
              <a:fillRect/>
            </a:stretch>
          </a:blipFill>
        </p:spPr>
      </p:sp>
      <p:sp>
        <p:nvSpPr>
          <p:cNvPr id="9" name="Freeform 9"/>
          <p:cNvSpPr/>
          <p:nvPr/>
        </p:nvSpPr>
        <p:spPr>
          <a:xfrm>
            <a:off x="10921910" y="5643910"/>
            <a:ext cx="7366090" cy="5143500"/>
          </a:xfrm>
          <a:custGeom>
            <a:avLst/>
            <a:gdLst/>
            <a:ahLst/>
            <a:cxnLst/>
            <a:rect l="l" t="t" r="r" b="b"/>
            <a:pathLst>
              <a:path w="7366090" h="5143500">
                <a:moveTo>
                  <a:pt x="0" y="0"/>
                </a:moveTo>
                <a:lnTo>
                  <a:pt x="7366090" y="0"/>
                </a:lnTo>
                <a:lnTo>
                  <a:pt x="7366090" y="5143500"/>
                </a:lnTo>
                <a:lnTo>
                  <a:pt x="0" y="5143500"/>
                </a:lnTo>
                <a:lnTo>
                  <a:pt x="0" y="0"/>
                </a:lnTo>
                <a:close/>
              </a:path>
            </a:pathLst>
          </a:custGeom>
          <a:blipFill>
            <a:blip r:embed="rId7"/>
            <a:stretch>
              <a:fillRect l="-9872" t="-4834"/>
            </a:stretch>
          </a:blipFill>
        </p:spPr>
      </p:sp>
      <p:sp>
        <p:nvSpPr>
          <p:cNvPr id="10" name="TextBox 10"/>
          <p:cNvSpPr txBox="1"/>
          <p:nvPr/>
        </p:nvSpPr>
        <p:spPr>
          <a:xfrm>
            <a:off x="711746" y="1893617"/>
            <a:ext cx="17384586" cy="1930276"/>
          </a:xfrm>
          <a:prstGeom prst="rect">
            <a:avLst/>
          </a:prstGeom>
        </p:spPr>
        <p:txBody>
          <a:bodyPr lIns="0" tIns="0" rIns="0" bIns="0" rtlCol="0" anchor="t">
            <a:spAutoFit/>
          </a:bodyPr>
          <a:lstStyle/>
          <a:p>
            <a:pPr algn="l">
              <a:lnSpc>
                <a:spcPts val="3835"/>
              </a:lnSpc>
              <a:spcBef>
                <a:spcPct val="0"/>
              </a:spcBef>
            </a:pPr>
            <a:r>
              <a:rPr lang="en-US" sz="2799">
                <a:solidFill>
                  <a:srgbClr val="EC2127"/>
                </a:solidFill>
                <a:latin typeface="Antic Bold"/>
                <a:ea typeface="Antic Bold"/>
                <a:cs typeface="Antic Bold"/>
                <a:sym typeface="Antic Bold"/>
              </a:rPr>
              <a:t>Shattered Realms</a:t>
            </a:r>
            <a:r>
              <a:rPr lang="en-US" sz="2799">
                <a:solidFill>
                  <a:srgbClr val="000000"/>
                </a:solidFill>
                <a:latin typeface="Antic"/>
                <a:ea typeface="Antic"/>
                <a:cs typeface="Antic"/>
                <a:sym typeface="Antic"/>
              </a:rPr>
              <a:t> is a web-based platform designed to centralize everything a Dungeons &amp; Dragons league needs, making the game easier to understand, track, and manage for both players and organizers. By combining interactive onboarding, player profiles, schedules, and performance dashboards in one place, it creates a more organized, fair, and enjoyable league experience.</a:t>
            </a:r>
          </a:p>
        </p:txBody>
      </p:sp>
      <p:sp>
        <p:nvSpPr>
          <p:cNvPr id="11" name="TextBox 11"/>
          <p:cNvSpPr txBox="1"/>
          <p:nvPr/>
        </p:nvSpPr>
        <p:spPr>
          <a:xfrm>
            <a:off x="2846843" y="4225255"/>
            <a:ext cx="6827720" cy="2789685"/>
          </a:xfrm>
          <a:prstGeom prst="rect">
            <a:avLst/>
          </a:prstGeom>
        </p:spPr>
        <p:txBody>
          <a:bodyPr lIns="0" tIns="0" rIns="0" bIns="0" rtlCol="0" anchor="t">
            <a:spAutoFit/>
          </a:bodyPr>
          <a:lstStyle/>
          <a:p>
            <a:pPr marL="0" lvl="0" indent="0" algn="l">
              <a:lnSpc>
                <a:spcPts val="3698"/>
              </a:lnSpc>
              <a:spcBef>
                <a:spcPct val="0"/>
              </a:spcBef>
            </a:pPr>
            <a:r>
              <a:rPr lang="en-US" sz="2699" u="none" strike="noStrike">
                <a:solidFill>
                  <a:srgbClr val="EC2127"/>
                </a:solidFill>
                <a:latin typeface="Antic Bold"/>
                <a:ea typeface="Antic Bold"/>
                <a:cs typeface="Antic Bold"/>
                <a:sym typeface="Antic Bold"/>
              </a:rPr>
              <a:t>Features to be added: </a:t>
            </a:r>
          </a:p>
          <a:p>
            <a:pPr marL="0" lvl="0" indent="0" algn="l">
              <a:lnSpc>
                <a:spcPts val="3698"/>
              </a:lnSpc>
              <a:spcBef>
                <a:spcPct val="0"/>
              </a:spcBef>
            </a:pPr>
            <a:r>
              <a:rPr lang="en-US" sz="2699" u="none" strike="noStrike">
                <a:solidFill>
                  <a:srgbClr val="000000"/>
                </a:solidFill>
                <a:latin typeface="Antic"/>
                <a:ea typeface="Antic"/>
                <a:cs typeface="Antic"/>
                <a:sym typeface="Antic"/>
              </a:rPr>
              <a:t>1: Registration, Login, and Profile Capabilities </a:t>
            </a:r>
          </a:p>
          <a:p>
            <a:pPr marL="0" lvl="0" indent="0" algn="l">
              <a:lnSpc>
                <a:spcPts val="3698"/>
              </a:lnSpc>
              <a:spcBef>
                <a:spcPct val="0"/>
              </a:spcBef>
            </a:pPr>
            <a:r>
              <a:rPr lang="en-US" sz="2699" u="none" strike="noStrike">
                <a:solidFill>
                  <a:srgbClr val="000000"/>
                </a:solidFill>
                <a:latin typeface="Antic"/>
                <a:ea typeface="Antic"/>
                <a:cs typeface="Antic"/>
                <a:sym typeface="Antic"/>
              </a:rPr>
              <a:t>2: Dashboards with Data Visualization </a:t>
            </a:r>
          </a:p>
          <a:p>
            <a:pPr marL="0" lvl="0" indent="0" algn="l">
              <a:lnSpc>
                <a:spcPts val="3698"/>
              </a:lnSpc>
              <a:spcBef>
                <a:spcPct val="0"/>
              </a:spcBef>
            </a:pPr>
            <a:r>
              <a:rPr lang="en-US" sz="2699" u="none" strike="noStrike">
                <a:solidFill>
                  <a:srgbClr val="000000"/>
                </a:solidFill>
                <a:latin typeface="Antic"/>
                <a:ea typeface="Antic"/>
                <a:cs typeface="Antic"/>
                <a:sym typeface="Antic"/>
              </a:rPr>
              <a:t>3: Fundraising Campaigns </a:t>
            </a:r>
          </a:p>
          <a:p>
            <a:pPr marL="0" lvl="0" indent="0" algn="l">
              <a:lnSpc>
                <a:spcPts val="3698"/>
              </a:lnSpc>
              <a:spcBef>
                <a:spcPct val="0"/>
              </a:spcBef>
            </a:pPr>
            <a:r>
              <a:rPr lang="en-US" sz="2699" u="none" strike="noStrike">
                <a:solidFill>
                  <a:srgbClr val="000000"/>
                </a:solidFill>
                <a:latin typeface="Antic"/>
                <a:ea typeface="Antic"/>
                <a:cs typeface="Antic"/>
                <a:sym typeface="Antic"/>
              </a:rPr>
              <a:t>4: News Feed with Subscription </a:t>
            </a:r>
          </a:p>
          <a:p>
            <a:pPr marL="0" lvl="0" indent="0" algn="l">
              <a:lnSpc>
                <a:spcPts val="3698"/>
              </a:lnSpc>
              <a:spcBef>
                <a:spcPct val="0"/>
              </a:spcBef>
            </a:pPr>
            <a:r>
              <a:rPr lang="en-US" sz="2699" u="none" strike="noStrike">
                <a:solidFill>
                  <a:srgbClr val="000000"/>
                </a:solidFill>
                <a:latin typeface="Antic"/>
                <a:ea typeface="Antic"/>
                <a:cs typeface="Antic"/>
                <a:sym typeface="Antic"/>
              </a:rPr>
              <a:t>5: Interactive merch Store </a:t>
            </a:r>
          </a:p>
        </p:txBody>
      </p:sp>
      <p:sp>
        <p:nvSpPr>
          <p:cNvPr id="12" name="TextBox 12"/>
          <p:cNvSpPr txBox="1"/>
          <p:nvPr/>
        </p:nvSpPr>
        <p:spPr>
          <a:xfrm>
            <a:off x="9951619" y="4225255"/>
            <a:ext cx="5479122" cy="1930276"/>
          </a:xfrm>
          <a:prstGeom prst="rect">
            <a:avLst/>
          </a:prstGeom>
        </p:spPr>
        <p:txBody>
          <a:bodyPr lIns="0" tIns="0" rIns="0" bIns="0" rtlCol="0" anchor="t">
            <a:spAutoFit/>
          </a:bodyPr>
          <a:lstStyle/>
          <a:p>
            <a:pPr marL="0" lvl="0" indent="0" algn="l">
              <a:lnSpc>
                <a:spcPts val="3835"/>
              </a:lnSpc>
              <a:spcBef>
                <a:spcPct val="0"/>
              </a:spcBef>
            </a:pPr>
            <a:r>
              <a:rPr lang="en-US" sz="2799" u="none" strike="noStrike">
                <a:solidFill>
                  <a:srgbClr val="EC2127"/>
                </a:solidFill>
                <a:latin typeface="Antic Bold"/>
                <a:ea typeface="Antic Bold"/>
                <a:cs typeface="Antic Bold"/>
                <a:sym typeface="Antic Bold"/>
              </a:rPr>
              <a:t>User Interaction scenarios </a:t>
            </a:r>
          </a:p>
          <a:p>
            <a:pPr marL="0" lvl="0" indent="0" algn="l">
              <a:lnSpc>
                <a:spcPts val="3835"/>
              </a:lnSpc>
              <a:spcBef>
                <a:spcPct val="0"/>
              </a:spcBef>
            </a:pPr>
            <a:r>
              <a:rPr lang="en-US" sz="2799" u="none" strike="noStrike">
                <a:solidFill>
                  <a:srgbClr val="000000"/>
                </a:solidFill>
                <a:latin typeface="Antic"/>
                <a:ea typeface="Antic"/>
                <a:cs typeface="Antic"/>
                <a:sym typeface="Antic"/>
              </a:rPr>
              <a:t>1. New user signing up </a:t>
            </a:r>
          </a:p>
          <a:p>
            <a:pPr marL="0" lvl="0" indent="0" algn="l">
              <a:lnSpc>
                <a:spcPts val="3835"/>
              </a:lnSpc>
              <a:spcBef>
                <a:spcPct val="0"/>
              </a:spcBef>
            </a:pPr>
            <a:r>
              <a:rPr lang="en-US" sz="2799" u="none" strike="noStrike">
                <a:solidFill>
                  <a:srgbClr val="000000"/>
                </a:solidFill>
                <a:latin typeface="Antic"/>
                <a:ea typeface="Antic"/>
                <a:cs typeface="Antic"/>
                <a:sym typeface="Antic"/>
              </a:rPr>
              <a:t>2. Game sessions scheduling </a:t>
            </a:r>
          </a:p>
          <a:p>
            <a:pPr marL="0" lvl="0" indent="0" algn="l">
              <a:lnSpc>
                <a:spcPts val="3835"/>
              </a:lnSpc>
              <a:spcBef>
                <a:spcPct val="0"/>
              </a:spcBef>
            </a:pPr>
            <a:r>
              <a:rPr lang="en-US" sz="2799" u="none" strike="noStrike">
                <a:solidFill>
                  <a:srgbClr val="000000"/>
                </a:solidFill>
                <a:latin typeface="Antic"/>
                <a:ea typeface="Antic"/>
                <a:cs typeface="Antic"/>
                <a:sym typeface="Antic"/>
              </a:rPr>
              <a:t>3. Shopping cart for merch</a:t>
            </a:r>
          </a:p>
        </p:txBody>
      </p:sp>
      <p:sp>
        <p:nvSpPr>
          <p:cNvPr id="13" name="TextBox 13"/>
          <p:cNvSpPr txBox="1"/>
          <p:nvPr/>
        </p:nvSpPr>
        <p:spPr>
          <a:xfrm>
            <a:off x="711746" y="7416302"/>
            <a:ext cx="11097914" cy="2789685"/>
          </a:xfrm>
          <a:prstGeom prst="rect">
            <a:avLst/>
          </a:prstGeom>
        </p:spPr>
        <p:txBody>
          <a:bodyPr lIns="0" tIns="0" rIns="0" bIns="0" rtlCol="0" anchor="t">
            <a:spAutoFit/>
          </a:bodyPr>
          <a:lstStyle/>
          <a:p>
            <a:pPr marL="0" lvl="0" indent="0" algn="l">
              <a:lnSpc>
                <a:spcPts val="3698"/>
              </a:lnSpc>
              <a:spcBef>
                <a:spcPct val="0"/>
              </a:spcBef>
            </a:pPr>
            <a:r>
              <a:rPr lang="en-US" sz="2699" u="none" strike="noStrike">
                <a:solidFill>
                  <a:srgbClr val="EC2127"/>
                </a:solidFill>
                <a:latin typeface="Antic Bold"/>
                <a:ea typeface="Antic Bold"/>
                <a:cs typeface="Antic Bold"/>
                <a:sym typeface="Antic Bold"/>
              </a:rPr>
              <a:t>Project scope and timeline: </a:t>
            </a:r>
          </a:p>
          <a:p>
            <a:pPr marL="0" lvl="0" indent="0" algn="l">
              <a:lnSpc>
                <a:spcPts val="3698"/>
              </a:lnSpc>
              <a:spcBef>
                <a:spcPct val="0"/>
              </a:spcBef>
            </a:pPr>
            <a:r>
              <a:rPr lang="en-US" sz="2699" u="none" strike="noStrike">
                <a:solidFill>
                  <a:srgbClr val="000000"/>
                </a:solidFill>
                <a:latin typeface="Antic"/>
                <a:ea typeface="Antic"/>
                <a:cs typeface="Antic"/>
                <a:sym typeface="Antic"/>
              </a:rPr>
              <a:t>Week 1 – 2: Planning and Design </a:t>
            </a:r>
          </a:p>
          <a:p>
            <a:pPr marL="0" lvl="0" indent="0" algn="l">
              <a:lnSpc>
                <a:spcPts val="3698"/>
              </a:lnSpc>
              <a:spcBef>
                <a:spcPct val="0"/>
              </a:spcBef>
            </a:pPr>
            <a:r>
              <a:rPr lang="en-US" sz="2699" u="none" strike="noStrike">
                <a:solidFill>
                  <a:srgbClr val="000000"/>
                </a:solidFill>
                <a:latin typeface="Antic"/>
                <a:ea typeface="Antic"/>
                <a:cs typeface="Antic"/>
                <a:sym typeface="Antic"/>
              </a:rPr>
              <a:t>Week 3: User System and Profiles </a:t>
            </a:r>
          </a:p>
          <a:p>
            <a:pPr marL="0" lvl="0" indent="0" algn="l">
              <a:lnSpc>
                <a:spcPts val="3698"/>
              </a:lnSpc>
              <a:spcBef>
                <a:spcPct val="0"/>
              </a:spcBef>
            </a:pPr>
            <a:r>
              <a:rPr lang="en-US" sz="2699" u="none" strike="noStrike">
                <a:solidFill>
                  <a:srgbClr val="000000"/>
                </a:solidFill>
                <a:latin typeface="Antic"/>
                <a:ea typeface="Antic"/>
                <a:cs typeface="Antic"/>
                <a:sym typeface="Antic"/>
              </a:rPr>
              <a:t>Week 4 – 5: Dashboard and Data Visualization </a:t>
            </a:r>
          </a:p>
          <a:p>
            <a:pPr marL="0" lvl="0" indent="0" algn="l">
              <a:lnSpc>
                <a:spcPts val="3698"/>
              </a:lnSpc>
              <a:spcBef>
                <a:spcPct val="0"/>
              </a:spcBef>
            </a:pPr>
            <a:r>
              <a:rPr lang="en-US" sz="2699" u="none" strike="noStrike">
                <a:solidFill>
                  <a:srgbClr val="000000"/>
                </a:solidFill>
                <a:latin typeface="Antic"/>
                <a:ea typeface="Antic"/>
                <a:cs typeface="Antic"/>
                <a:sym typeface="Antic"/>
              </a:rPr>
              <a:t>Week 6 – 7: Management Interface and Fundraising Section </a:t>
            </a:r>
          </a:p>
          <a:p>
            <a:pPr marL="0" lvl="0" indent="0" algn="l">
              <a:lnSpc>
                <a:spcPts val="3698"/>
              </a:lnSpc>
              <a:spcBef>
                <a:spcPct val="0"/>
              </a:spcBef>
            </a:pPr>
            <a:r>
              <a:rPr lang="en-US" sz="2699" u="none" strike="noStrike">
                <a:solidFill>
                  <a:srgbClr val="000000"/>
                </a:solidFill>
                <a:latin typeface="Antic"/>
                <a:ea typeface="Antic"/>
                <a:cs typeface="Antic"/>
                <a:sym typeface="Antic"/>
              </a:rPr>
              <a:t>Week 8: Testing and Final Integration</a:t>
            </a:r>
          </a:p>
        </p:txBody>
      </p:sp>
      <p:sp>
        <p:nvSpPr>
          <p:cNvPr id="14" name="Freeform 14"/>
          <p:cNvSpPr/>
          <p:nvPr/>
        </p:nvSpPr>
        <p:spPr>
          <a:xfrm>
            <a:off x="1880473" y="1016232"/>
            <a:ext cx="966370" cy="272341"/>
          </a:xfrm>
          <a:custGeom>
            <a:avLst/>
            <a:gdLst/>
            <a:ahLst/>
            <a:cxnLst/>
            <a:rect l="l" t="t" r="r" b="b"/>
            <a:pathLst>
              <a:path w="966370" h="272341">
                <a:moveTo>
                  <a:pt x="0" y="0"/>
                </a:moveTo>
                <a:lnTo>
                  <a:pt x="966370" y="0"/>
                </a:lnTo>
                <a:lnTo>
                  <a:pt x="966370" y="272340"/>
                </a:lnTo>
                <a:lnTo>
                  <a:pt x="0" y="27234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Freeform 15"/>
          <p:cNvSpPr/>
          <p:nvPr/>
        </p:nvSpPr>
        <p:spPr>
          <a:xfrm>
            <a:off x="12691180" y="488345"/>
            <a:ext cx="966370" cy="272341"/>
          </a:xfrm>
          <a:custGeom>
            <a:avLst/>
            <a:gdLst/>
            <a:ahLst/>
            <a:cxnLst/>
            <a:rect l="l" t="t" r="r" b="b"/>
            <a:pathLst>
              <a:path w="966370" h="272341">
                <a:moveTo>
                  <a:pt x="0" y="0"/>
                </a:moveTo>
                <a:lnTo>
                  <a:pt x="966369" y="0"/>
                </a:lnTo>
                <a:lnTo>
                  <a:pt x="966369" y="272341"/>
                </a:lnTo>
                <a:lnTo>
                  <a:pt x="0" y="27234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8E7"/>
        </a:solidFill>
        <a:effectLst/>
      </p:bgPr>
    </p:bg>
    <p:spTree>
      <p:nvGrpSpPr>
        <p:cNvPr id="1" name=""/>
        <p:cNvGrpSpPr/>
        <p:nvPr/>
      </p:nvGrpSpPr>
      <p:grpSpPr>
        <a:xfrm>
          <a:off x="0" y="0"/>
          <a:ext cx="0" cy="0"/>
          <a:chOff x="0" y="0"/>
          <a:chExt cx="0" cy="0"/>
        </a:xfrm>
      </p:grpSpPr>
      <p:sp>
        <p:nvSpPr>
          <p:cNvPr id="2" name="Freeform 2"/>
          <p:cNvSpPr/>
          <p:nvPr/>
        </p:nvSpPr>
        <p:spPr>
          <a:xfrm>
            <a:off x="5994325" y="-692599"/>
            <a:ext cx="5167127" cy="3442598"/>
          </a:xfrm>
          <a:custGeom>
            <a:avLst/>
            <a:gdLst/>
            <a:ahLst/>
            <a:cxnLst/>
            <a:rect l="l" t="t" r="r" b="b"/>
            <a:pathLst>
              <a:path w="5167127" h="3442598">
                <a:moveTo>
                  <a:pt x="0" y="0"/>
                </a:moveTo>
                <a:lnTo>
                  <a:pt x="5167127" y="0"/>
                </a:lnTo>
                <a:lnTo>
                  <a:pt x="5167127" y="3442598"/>
                </a:lnTo>
                <a:lnTo>
                  <a:pt x="0" y="3442598"/>
                </a:lnTo>
                <a:lnTo>
                  <a:pt x="0" y="0"/>
                </a:lnTo>
                <a:close/>
              </a:path>
            </a:pathLst>
          </a:custGeom>
          <a:blipFill>
            <a:blip r:embed="rId2"/>
            <a:stretch>
              <a:fillRect/>
            </a:stretch>
          </a:blipFill>
        </p:spPr>
      </p:sp>
      <p:sp>
        <p:nvSpPr>
          <p:cNvPr id="3" name="Freeform 3"/>
          <p:cNvSpPr/>
          <p:nvPr/>
        </p:nvSpPr>
        <p:spPr>
          <a:xfrm>
            <a:off x="13853198" y="4504043"/>
            <a:ext cx="3934521" cy="5905473"/>
          </a:xfrm>
          <a:custGeom>
            <a:avLst/>
            <a:gdLst/>
            <a:ahLst/>
            <a:cxnLst/>
            <a:rect l="l" t="t" r="r" b="b"/>
            <a:pathLst>
              <a:path w="3934521" h="5905473">
                <a:moveTo>
                  <a:pt x="0" y="0"/>
                </a:moveTo>
                <a:lnTo>
                  <a:pt x="3934521" y="0"/>
                </a:lnTo>
                <a:lnTo>
                  <a:pt x="3934521" y="5905473"/>
                </a:lnTo>
                <a:lnTo>
                  <a:pt x="0" y="5905473"/>
                </a:lnTo>
                <a:lnTo>
                  <a:pt x="0" y="0"/>
                </a:lnTo>
                <a:close/>
              </a:path>
            </a:pathLst>
          </a:custGeom>
          <a:blipFill>
            <a:blip r:embed="rId3"/>
            <a:stretch>
              <a:fillRect/>
            </a:stretch>
          </a:blipFill>
        </p:spPr>
      </p:sp>
      <p:sp>
        <p:nvSpPr>
          <p:cNvPr id="4" name="TextBox 4"/>
          <p:cNvSpPr txBox="1"/>
          <p:nvPr/>
        </p:nvSpPr>
        <p:spPr>
          <a:xfrm>
            <a:off x="514350" y="2525014"/>
            <a:ext cx="7885250" cy="2416051"/>
          </a:xfrm>
          <a:prstGeom prst="rect">
            <a:avLst/>
          </a:prstGeom>
        </p:spPr>
        <p:txBody>
          <a:bodyPr lIns="0" tIns="0" rIns="0" bIns="0" rtlCol="0" anchor="t">
            <a:spAutoFit/>
          </a:bodyPr>
          <a:lstStyle/>
          <a:p>
            <a:pPr marL="0" lvl="0" indent="0" algn="l">
              <a:lnSpc>
                <a:spcPts val="3835"/>
              </a:lnSpc>
              <a:spcBef>
                <a:spcPct val="0"/>
              </a:spcBef>
            </a:pPr>
            <a:r>
              <a:rPr lang="en-US" sz="2799" u="none" strike="noStrike">
                <a:solidFill>
                  <a:srgbClr val="EC2127"/>
                </a:solidFill>
                <a:latin typeface="Antic Bold"/>
                <a:ea typeface="Antic Bold"/>
                <a:cs typeface="Antic Bold"/>
                <a:sym typeface="Antic Bold"/>
              </a:rPr>
              <a:t>Implementation details Frontend: </a:t>
            </a:r>
          </a:p>
          <a:p>
            <a:pPr marL="0" lvl="0" indent="0" algn="l">
              <a:lnSpc>
                <a:spcPts val="3835"/>
              </a:lnSpc>
              <a:spcBef>
                <a:spcPct val="0"/>
              </a:spcBef>
            </a:pPr>
            <a:r>
              <a:rPr lang="en-US" sz="2799" u="none" strike="noStrike">
                <a:solidFill>
                  <a:srgbClr val="000000"/>
                </a:solidFill>
                <a:latin typeface="Antic"/>
                <a:ea typeface="Antic"/>
                <a:cs typeface="Antic"/>
                <a:sym typeface="Antic"/>
              </a:rPr>
              <a:t>CSS (Possibly implement bootstrap), HTML, JavaScript </a:t>
            </a:r>
          </a:p>
          <a:p>
            <a:pPr marL="0" lvl="0" indent="0" algn="l">
              <a:lnSpc>
                <a:spcPts val="3835"/>
              </a:lnSpc>
              <a:spcBef>
                <a:spcPct val="0"/>
              </a:spcBef>
            </a:pPr>
            <a:r>
              <a:rPr lang="en-US" sz="2799" u="none" strike="noStrike">
                <a:solidFill>
                  <a:srgbClr val="EC2127"/>
                </a:solidFill>
                <a:latin typeface="Antic Bold"/>
                <a:ea typeface="Antic Bold"/>
                <a:cs typeface="Antic Bold"/>
                <a:sym typeface="Antic Bold"/>
              </a:rPr>
              <a:t>Backend:</a:t>
            </a:r>
            <a:r>
              <a:rPr lang="en-US" sz="2799" u="none" strike="noStrike">
                <a:solidFill>
                  <a:srgbClr val="000000"/>
                </a:solidFill>
                <a:latin typeface="Antic"/>
                <a:ea typeface="Antic"/>
                <a:cs typeface="Antic"/>
                <a:sym typeface="Antic"/>
              </a:rPr>
              <a:t> Java(Springboot) with MVC structure </a:t>
            </a:r>
          </a:p>
          <a:p>
            <a:pPr marL="0" lvl="0" indent="0" algn="l">
              <a:lnSpc>
                <a:spcPts val="3835"/>
              </a:lnSpc>
              <a:spcBef>
                <a:spcPct val="0"/>
              </a:spcBef>
            </a:pPr>
            <a:r>
              <a:rPr lang="en-US" sz="2799" u="none" strike="noStrike">
                <a:solidFill>
                  <a:srgbClr val="EC2127"/>
                </a:solidFill>
                <a:latin typeface="Antic Bold"/>
                <a:ea typeface="Antic Bold"/>
                <a:cs typeface="Antic Bold"/>
                <a:sym typeface="Antic Bold"/>
              </a:rPr>
              <a:t>Database Management: </a:t>
            </a:r>
            <a:r>
              <a:rPr lang="en-US" sz="2799" u="none" strike="noStrike">
                <a:solidFill>
                  <a:srgbClr val="000000"/>
                </a:solidFill>
                <a:latin typeface="Antic"/>
                <a:ea typeface="Antic"/>
                <a:cs typeface="Antic"/>
                <a:sym typeface="Antic"/>
              </a:rPr>
              <a:t>MySQL </a:t>
            </a:r>
          </a:p>
          <a:p>
            <a:pPr marL="0" lvl="0" indent="0" algn="l">
              <a:lnSpc>
                <a:spcPts val="3835"/>
              </a:lnSpc>
              <a:spcBef>
                <a:spcPct val="0"/>
              </a:spcBef>
            </a:pPr>
            <a:r>
              <a:rPr lang="en-US" sz="2799" u="none" strike="noStrike">
                <a:solidFill>
                  <a:srgbClr val="EC2127"/>
                </a:solidFill>
                <a:latin typeface="Antic Bold"/>
                <a:ea typeface="Antic Bold"/>
                <a:cs typeface="Antic Bold"/>
                <a:sym typeface="Antic Bold"/>
              </a:rPr>
              <a:t>Tools:</a:t>
            </a:r>
            <a:r>
              <a:rPr lang="en-US" sz="2799" u="none" strike="noStrike">
                <a:solidFill>
                  <a:srgbClr val="000000"/>
                </a:solidFill>
                <a:latin typeface="Antic"/>
                <a:ea typeface="Antic"/>
                <a:cs typeface="Antic"/>
                <a:sym typeface="Antic"/>
              </a:rPr>
              <a:t> GitHub, IntelliJ IDEA</a:t>
            </a:r>
          </a:p>
        </p:txBody>
      </p:sp>
      <p:sp>
        <p:nvSpPr>
          <p:cNvPr id="5" name="TextBox 5"/>
          <p:cNvSpPr txBox="1"/>
          <p:nvPr/>
        </p:nvSpPr>
        <p:spPr>
          <a:xfrm>
            <a:off x="9674976" y="2348024"/>
            <a:ext cx="8356445" cy="1930276"/>
          </a:xfrm>
          <a:prstGeom prst="rect">
            <a:avLst/>
          </a:prstGeom>
        </p:spPr>
        <p:txBody>
          <a:bodyPr lIns="0" tIns="0" rIns="0" bIns="0" rtlCol="0" anchor="t">
            <a:spAutoFit/>
          </a:bodyPr>
          <a:lstStyle/>
          <a:p>
            <a:pPr marL="0" lvl="0" indent="0" algn="l">
              <a:lnSpc>
                <a:spcPts val="3835"/>
              </a:lnSpc>
              <a:spcBef>
                <a:spcPct val="0"/>
              </a:spcBef>
            </a:pPr>
            <a:r>
              <a:rPr lang="en-US" sz="2799" u="none" strike="noStrike">
                <a:solidFill>
                  <a:srgbClr val="EC2127"/>
                </a:solidFill>
                <a:latin typeface="Antic Bold"/>
                <a:ea typeface="Antic Bold"/>
                <a:cs typeface="Antic Bold"/>
                <a:sym typeface="Antic Bold"/>
              </a:rPr>
              <a:t>Anticipated challenges, limitations: </a:t>
            </a:r>
          </a:p>
          <a:p>
            <a:pPr marL="0" lvl="0" indent="0" algn="l">
              <a:lnSpc>
                <a:spcPts val="3835"/>
              </a:lnSpc>
              <a:spcBef>
                <a:spcPct val="0"/>
              </a:spcBef>
            </a:pPr>
            <a:r>
              <a:rPr lang="en-US" sz="2799" u="none" strike="noStrike">
                <a:solidFill>
                  <a:srgbClr val="000000"/>
                </a:solidFill>
                <a:latin typeface="Antic"/>
                <a:ea typeface="Antic"/>
                <a:cs typeface="Antic"/>
                <a:sym typeface="Antic"/>
              </a:rPr>
              <a:t>Linking the frontend to the backend smoothly </a:t>
            </a:r>
          </a:p>
          <a:p>
            <a:pPr marL="0" lvl="0" indent="0" algn="l">
              <a:lnSpc>
                <a:spcPts val="3835"/>
              </a:lnSpc>
              <a:spcBef>
                <a:spcPct val="0"/>
              </a:spcBef>
            </a:pPr>
            <a:r>
              <a:rPr lang="en-US" sz="2799" u="none" strike="noStrike">
                <a:solidFill>
                  <a:srgbClr val="000000"/>
                </a:solidFill>
                <a:latin typeface="Antic"/>
                <a:ea typeface="Antic"/>
                <a:cs typeface="Antic"/>
                <a:sym typeface="Antic"/>
              </a:rPr>
              <a:t>Collaborating harmoniously on GitHub </a:t>
            </a:r>
          </a:p>
          <a:p>
            <a:pPr marL="0" lvl="0" indent="0" algn="l">
              <a:lnSpc>
                <a:spcPts val="3835"/>
              </a:lnSpc>
              <a:spcBef>
                <a:spcPct val="0"/>
              </a:spcBef>
            </a:pPr>
            <a:r>
              <a:rPr lang="en-US" sz="2799" u="none" strike="noStrike">
                <a:solidFill>
                  <a:srgbClr val="000000"/>
                </a:solidFill>
                <a:latin typeface="Antic"/>
                <a:ea typeface="Antic"/>
                <a:cs typeface="Antic"/>
                <a:sym typeface="Antic"/>
              </a:rPr>
              <a:t>Implementing as we learn about new backend concepts </a:t>
            </a:r>
          </a:p>
        </p:txBody>
      </p:sp>
      <p:sp>
        <p:nvSpPr>
          <p:cNvPr id="6" name="TextBox 6"/>
          <p:cNvSpPr txBox="1"/>
          <p:nvPr/>
        </p:nvSpPr>
        <p:spPr>
          <a:xfrm>
            <a:off x="514350" y="5496279"/>
            <a:ext cx="13115189" cy="3873376"/>
          </a:xfrm>
          <a:prstGeom prst="rect">
            <a:avLst/>
          </a:prstGeom>
        </p:spPr>
        <p:txBody>
          <a:bodyPr lIns="0" tIns="0" rIns="0" bIns="0" rtlCol="0" anchor="t">
            <a:spAutoFit/>
          </a:bodyPr>
          <a:lstStyle/>
          <a:p>
            <a:pPr marL="0" lvl="0" indent="0" algn="l">
              <a:lnSpc>
                <a:spcPts val="3835"/>
              </a:lnSpc>
              <a:spcBef>
                <a:spcPct val="0"/>
              </a:spcBef>
            </a:pPr>
            <a:r>
              <a:rPr lang="en-US" sz="2799" u="none" strike="noStrike">
                <a:solidFill>
                  <a:srgbClr val="EC2127"/>
                </a:solidFill>
                <a:latin typeface="Antic Bold"/>
                <a:ea typeface="Antic Bold"/>
                <a:cs typeface="Antic Bold"/>
                <a:sym typeface="Antic Bold"/>
              </a:rPr>
              <a:t>Mitigations: </a:t>
            </a:r>
          </a:p>
          <a:p>
            <a:pPr marL="604487" lvl="1" indent="-302244" algn="l">
              <a:lnSpc>
                <a:spcPts val="3835"/>
              </a:lnSpc>
              <a:buFont typeface="Arial"/>
              <a:buChar char="•"/>
            </a:pPr>
            <a:r>
              <a:rPr lang="en-US" sz="2799" u="none" strike="noStrike">
                <a:solidFill>
                  <a:srgbClr val="000000"/>
                </a:solidFill>
                <a:latin typeface="Antic"/>
                <a:ea typeface="Antic"/>
                <a:cs typeface="Antic"/>
                <a:sym typeface="Antic"/>
              </a:rPr>
              <a:t>Start with small features, test them locally, and only then connect them to the backend to avoid breaking the system. </a:t>
            </a:r>
          </a:p>
          <a:p>
            <a:pPr marL="604487" lvl="1" indent="-302244" algn="l">
              <a:lnSpc>
                <a:spcPts val="3835"/>
              </a:lnSpc>
              <a:buFont typeface="Arial"/>
              <a:buChar char="•"/>
            </a:pPr>
            <a:r>
              <a:rPr lang="en-US" sz="2799" u="none" strike="noStrike">
                <a:solidFill>
                  <a:srgbClr val="000000"/>
                </a:solidFill>
                <a:latin typeface="Antic"/>
                <a:ea typeface="Antic"/>
                <a:cs typeface="Antic"/>
                <a:sym typeface="Antic"/>
              </a:rPr>
              <a:t>A task checklist that members tick to secure before working on it to avoid clashes or redoing the tasks. </a:t>
            </a:r>
          </a:p>
          <a:p>
            <a:pPr marL="604487" lvl="1" indent="-302244" algn="l">
              <a:lnSpc>
                <a:spcPts val="3835"/>
              </a:lnSpc>
              <a:buFont typeface="Arial"/>
              <a:buChar char="•"/>
            </a:pPr>
            <a:r>
              <a:rPr lang="en-US" sz="2799" u="none" strike="noStrike">
                <a:solidFill>
                  <a:srgbClr val="000000"/>
                </a:solidFill>
                <a:latin typeface="Antic"/>
                <a:ea typeface="Antic"/>
                <a:cs typeface="Antic"/>
                <a:sym typeface="Antic"/>
              </a:rPr>
              <a:t>For git, we will use commit messages and regular pull requests. We will communicate before making major changes, review each other’s work. </a:t>
            </a:r>
          </a:p>
          <a:p>
            <a:pPr marL="604487" lvl="1" indent="-302244" algn="l">
              <a:lnSpc>
                <a:spcPts val="3835"/>
              </a:lnSpc>
              <a:buFont typeface="Arial"/>
              <a:buChar char="•"/>
            </a:pPr>
            <a:r>
              <a:rPr lang="en-US" sz="2799" u="none" strike="noStrike">
                <a:solidFill>
                  <a:srgbClr val="000000"/>
                </a:solidFill>
                <a:latin typeface="Antic"/>
                <a:ea typeface="Antic"/>
                <a:cs typeface="Antic"/>
                <a:sym typeface="Antic"/>
              </a:rPr>
              <a:t>Research/Self-study ahead based on the features needed to be implemented</a:t>
            </a:r>
          </a:p>
        </p:txBody>
      </p:sp>
      <p:sp>
        <p:nvSpPr>
          <p:cNvPr id="7" name="Freeform 7"/>
          <p:cNvSpPr/>
          <p:nvPr/>
        </p:nvSpPr>
        <p:spPr>
          <a:xfrm>
            <a:off x="11866657" y="328597"/>
            <a:ext cx="940438" cy="800227"/>
          </a:xfrm>
          <a:custGeom>
            <a:avLst/>
            <a:gdLst/>
            <a:ahLst/>
            <a:cxnLst/>
            <a:rect l="l" t="t" r="r" b="b"/>
            <a:pathLst>
              <a:path w="940438" h="800227">
                <a:moveTo>
                  <a:pt x="0" y="0"/>
                </a:moveTo>
                <a:lnTo>
                  <a:pt x="940438" y="0"/>
                </a:lnTo>
                <a:lnTo>
                  <a:pt x="940438" y="800227"/>
                </a:lnTo>
                <a:lnTo>
                  <a:pt x="0" y="80022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337542" y="352175"/>
            <a:ext cx="966370" cy="272341"/>
          </a:xfrm>
          <a:custGeom>
            <a:avLst/>
            <a:gdLst/>
            <a:ahLst/>
            <a:cxnLst/>
            <a:rect l="l" t="t" r="r" b="b"/>
            <a:pathLst>
              <a:path w="966370" h="272341">
                <a:moveTo>
                  <a:pt x="0" y="0"/>
                </a:moveTo>
                <a:lnTo>
                  <a:pt x="966369" y="0"/>
                </a:lnTo>
                <a:lnTo>
                  <a:pt x="966369" y="272340"/>
                </a:lnTo>
                <a:lnTo>
                  <a:pt x="0" y="27234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a:off x="4814621" y="488345"/>
            <a:ext cx="940438" cy="800227"/>
          </a:xfrm>
          <a:custGeom>
            <a:avLst/>
            <a:gdLst/>
            <a:ahLst/>
            <a:cxnLst/>
            <a:rect l="l" t="t" r="r" b="b"/>
            <a:pathLst>
              <a:path w="940438" h="800227">
                <a:moveTo>
                  <a:pt x="0" y="0"/>
                </a:moveTo>
                <a:lnTo>
                  <a:pt x="940438" y="0"/>
                </a:lnTo>
                <a:lnTo>
                  <a:pt x="940438" y="800227"/>
                </a:lnTo>
                <a:lnTo>
                  <a:pt x="0" y="80022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a:off x="13370013" y="856483"/>
            <a:ext cx="966370" cy="272341"/>
          </a:xfrm>
          <a:custGeom>
            <a:avLst/>
            <a:gdLst/>
            <a:ahLst/>
            <a:cxnLst/>
            <a:rect l="l" t="t" r="r" b="b"/>
            <a:pathLst>
              <a:path w="966370" h="272341">
                <a:moveTo>
                  <a:pt x="0" y="0"/>
                </a:moveTo>
                <a:lnTo>
                  <a:pt x="966370" y="0"/>
                </a:lnTo>
                <a:lnTo>
                  <a:pt x="966370" y="272341"/>
                </a:lnTo>
                <a:lnTo>
                  <a:pt x="0" y="27234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a:off x="1918878" y="992654"/>
            <a:ext cx="966370" cy="272341"/>
          </a:xfrm>
          <a:custGeom>
            <a:avLst/>
            <a:gdLst/>
            <a:ahLst/>
            <a:cxnLst/>
            <a:rect l="l" t="t" r="r" b="b"/>
            <a:pathLst>
              <a:path w="966370" h="272341">
                <a:moveTo>
                  <a:pt x="0" y="0"/>
                </a:moveTo>
                <a:lnTo>
                  <a:pt x="966369" y="0"/>
                </a:lnTo>
                <a:lnTo>
                  <a:pt x="966369" y="272340"/>
                </a:lnTo>
                <a:lnTo>
                  <a:pt x="0" y="27234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2" name="Freeform 12"/>
          <p:cNvSpPr/>
          <p:nvPr/>
        </p:nvSpPr>
        <p:spPr>
          <a:xfrm>
            <a:off x="16511958" y="584143"/>
            <a:ext cx="966370" cy="272341"/>
          </a:xfrm>
          <a:custGeom>
            <a:avLst/>
            <a:gdLst/>
            <a:ahLst/>
            <a:cxnLst/>
            <a:rect l="l" t="t" r="r" b="b"/>
            <a:pathLst>
              <a:path w="966370" h="272341">
                <a:moveTo>
                  <a:pt x="0" y="0"/>
                </a:moveTo>
                <a:lnTo>
                  <a:pt x="966370" y="0"/>
                </a:lnTo>
                <a:lnTo>
                  <a:pt x="966370" y="272340"/>
                </a:lnTo>
                <a:lnTo>
                  <a:pt x="0" y="27234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3" name="Freeform 13"/>
          <p:cNvSpPr/>
          <p:nvPr/>
        </p:nvSpPr>
        <p:spPr>
          <a:xfrm>
            <a:off x="15337274" y="1424743"/>
            <a:ext cx="966370" cy="272341"/>
          </a:xfrm>
          <a:custGeom>
            <a:avLst/>
            <a:gdLst/>
            <a:ahLst/>
            <a:cxnLst/>
            <a:rect l="l" t="t" r="r" b="b"/>
            <a:pathLst>
              <a:path w="966370" h="272341">
                <a:moveTo>
                  <a:pt x="0" y="0"/>
                </a:moveTo>
                <a:lnTo>
                  <a:pt x="966370" y="0"/>
                </a:lnTo>
                <a:lnTo>
                  <a:pt x="966370" y="272340"/>
                </a:lnTo>
                <a:lnTo>
                  <a:pt x="0" y="27234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4" name="Freeform 14"/>
          <p:cNvSpPr/>
          <p:nvPr/>
        </p:nvSpPr>
        <p:spPr>
          <a:xfrm>
            <a:off x="3580156" y="447973"/>
            <a:ext cx="966370" cy="272341"/>
          </a:xfrm>
          <a:custGeom>
            <a:avLst/>
            <a:gdLst/>
            <a:ahLst/>
            <a:cxnLst/>
            <a:rect l="l" t="t" r="r" b="b"/>
            <a:pathLst>
              <a:path w="966370" h="272341">
                <a:moveTo>
                  <a:pt x="0" y="0"/>
                </a:moveTo>
                <a:lnTo>
                  <a:pt x="966369" y="0"/>
                </a:lnTo>
                <a:lnTo>
                  <a:pt x="966369" y="272340"/>
                </a:lnTo>
                <a:lnTo>
                  <a:pt x="0" y="27234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317</Words>
  <Application>Microsoft Office PowerPoint</Application>
  <PresentationFormat>Custom</PresentationFormat>
  <Paragraphs>35</Paragraphs>
  <Slides>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Antic Bold</vt:lpstr>
      <vt:lpstr>Canva Sans</vt:lpstr>
      <vt:lpstr>Antic</vt:lpstr>
      <vt:lpstr>Calibri</vt:lpstr>
      <vt:lpstr>Arial</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Dungeons &amp; Dragons</dc:title>
  <cp:lastModifiedBy>SAFIA SIDDIQUE</cp:lastModifiedBy>
  <cp:revision>2</cp:revision>
  <dcterms:created xsi:type="dcterms:W3CDTF">2006-08-16T00:00:00Z</dcterms:created>
  <dcterms:modified xsi:type="dcterms:W3CDTF">2026-02-08T19:42:10Z</dcterms:modified>
  <dc:identifier>DAHAvcPkn5g</dc:identifier>
</cp:coreProperties>
</file>